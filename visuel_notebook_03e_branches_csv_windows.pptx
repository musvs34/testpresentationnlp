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 type="wide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  <Relationship Id="rId3" Type="http://schemas.openxmlformats.org/officeDocument/2006/relationships/theme" Target="theme/them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ft circle"/>
          <p:cNvSpPr/>
          <p:nvPr/>
        </p:nvSpPr>
        <p:spPr>
          <a:xfrm>
            <a:off x="101600" y="-63500"/>
            <a:ext cx="2413000" cy="2413000"/>
          </a:xfrm>
          <a:prstGeom prst="ellipse">
            <a:avLst/>
          </a:prstGeom>
          <a:solidFill>
            <a:srgbClr val="DFF1FF">
              <a:alpha val="58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oft circle"/>
          <p:cNvSpPr/>
          <p:nvPr/>
        </p:nvSpPr>
        <p:spPr>
          <a:xfrm>
            <a:off x="9461500" y="4254500"/>
            <a:ext cx="3048000" cy="3048000"/>
          </a:xfrm>
          <a:prstGeom prst="ellipse">
            <a:avLst/>
          </a:prstGeom>
          <a:solidFill>
            <a:srgbClr val="EAF3FF">
              <a:alpha val="7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"/>
          <p:cNvSpPr/>
          <p:nvPr/>
        </p:nvSpPr>
        <p:spPr>
          <a:xfrm>
            <a:off x="495300" y="1168400"/>
            <a:ext cx="3124200" cy="4775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E9FB"/>
            </a:solidFill>
          </a:ln>
        </p:spPr>
        <p:txBody>
          <a:bodyPr/>
          <a:lstStyle/>
          <a:p/>
        </p:txBody>
      </p:sp>
      <p:sp>
        <p:nvSpPr>
          <p:cNvPr id="5" name="Shape"/>
          <p:cNvSpPr/>
          <p:nvPr/>
        </p:nvSpPr>
        <p:spPr>
          <a:xfrm>
            <a:off x="711200" y="1384300"/>
            <a:ext cx="838200" cy="266700"/>
          </a:xfrm>
          <a:prstGeom prst="roundRect">
            <a:avLst/>
          </a:prstGeom>
          <a:solidFill>
            <a:srgbClr val="E8F3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ext"/>
          <p:cNvSpPr txBox="1"/>
          <p:nvPr/>
        </p:nvSpPr>
        <p:spPr>
          <a:xfrm>
            <a:off x="901700" y="1460500"/>
            <a:ext cx="571500" cy="152400"/>
          </a:xfrm>
          <a:prstGeom prst="rect">
            <a:avLst/>
          </a:prstGeom>
          <a:noFill/>
          <a:ln>
            <a:noFill/>
          </a:ln>
        </p:spPr>
        <p:txBody>
          <a:bodyPr wrap="square" inset="0" lIns="0" tIns="0" rIns="0" bIns="0"/>
          <a:lstStyle/>
          <a:p>
            <a:pPr algn="l"/>
            <a:r>
              <a:rPr lang="fr-FR" sz="1600" b="1">
                <a:solidFill>
                  <a:srgbClr val="0078D4"/>
                </a:solidFill>
                <a:latin typeface="Segoe UI"/>
              </a:rPr>
              <a:t>CSV sources</a:t>
            </a:r>
            <a:endParaRPr lang="fr-FR" sz="1600"/>
          </a:p>
        </p:txBody>
      </p:sp>
      <p:sp>
        <p:nvSpPr>
          <p:cNvPr id="7" name="Text"/>
          <p:cNvSpPr txBox="1"/>
          <p:nvPr/>
        </p:nvSpPr>
        <p:spPr>
          <a:xfrm>
            <a:off x="711200" y="1828800"/>
            <a:ext cx="2032000" cy="241300"/>
          </a:xfrm>
          <a:prstGeom prst="rect">
            <a:avLst/>
          </a:prstGeom>
          <a:noFill/>
          <a:ln>
            <a:noFill/>
          </a:ln>
        </p:spPr>
        <p:txBody>
          <a:bodyPr wrap="square" inset="0" lIns="0" tIns="0" rIns="0" bIns="0"/>
          <a:lstStyle/>
          <a:p>
            <a:pPr algn="l"/>
            <a:r>
              <a:rPr lang="fr-FR" sz="2800" b="1">
                <a:solidFill>
                  <a:srgbClr val="101827"/>
                </a:solidFill>
                <a:latin typeface="Segoe UI"/>
              </a:rPr>
              <a:t>Inputs pris en compte</a:t>
            </a:r>
            <a:endParaRPr lang="fr-FR" sz="2800"/>
          </a:p>
        </p:txBody>
      </p:sp>
      <p:sp>
        <p:nvSpPr>
          <p:cNvPr id="8" name="Shape"/>
          <p:cNvSpPr/>
          <p:nvPr/>
        </p:nvSpPr>
        <p:spPr>
          <a:xfrm>
            <a:off x="711200" y="2184400"/>
            <a:ext cx="2603500" cy="660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E9FB"/>
            </a:solidFill>
          </a:ln>
        </p:spPr>
        <p:txBody>
          <a:bodyPr/>
          <a:lstStyle/>
          <a:p/>
        </p:txBody>
      </p:sp>
      <p:sp>
        <p:nvSpPr>
          <p:cNvPr id="9" name="Shape"/>
          <p:cNvSpPr/>
          <p:nvPr/>
        </p:nvSpPr>
        <p:spPr>
          <a:xfrm>
            <a:off x="863600" y="2336800"/>
            <a:ext cx="292100" cy="2921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933450" y="2432050"/>
            <a:ext cx="190500" cy="127000"/>
          </a:xfrm>
          <a:prstGeom prst="rect">
            <a:avLst/>
          </a:prstGeom>
          <a:noFill/>
          <a:ln>
            <a:noFill/>
          </a:ln>
        </p:spPr>
        <p:txBody>
          <a:bodyPr wrap="square" inset="0" lIns="0" tIns="0" rIns="0" bIns="0"/>
          <a:lstStyle/>
          <a:p>
            <a:pPr algn="ctr"/>
            <a:r>
              <a:rPr lang="fr-FR" sz="1400" b="1">
                <a:solidFill>
                  <a:srgbClr val="FFFFFF"/>
                </a:solidFill>
                <a:latin typeface="Segoe UI"/>
              </a:rPr>
              <a:t>CSV</a:t>
            </a:r>
            <a:endParaRPr lang="fr-FR" sz="1400"/>
          </a:p>
        </p:txBody>
      </p:sp>
      <p:sp>
        <p:nvSpPr>
          <p:cNvPr id="11" name="Text"/>
          <p:cNvSpPr txBox="1"/>
          <p:nvPr/>
        </p:nvSpPr>
        <p:spPr>
          <a:xfrm>
            <a:off x="1282700" y="2349500"/>
            <a:ext cx="1816100" cy="177800"/>
          </a:xfrm>
          <a:prstGeom prst="rect">
            <a:avLst/>
          </a:prstGeom>
          <a:noFill/>
          <a:ln>
            <a:noFill/>
          </a:ln>
        </p:spPr>
        <p:txBody>
          <a:bodyPr wrap="square" inset="0" lIns="0" tIns="0" rIns="0" bIns="0"/>
          <a:lstStyle/>
          <a:p>
            <a:pPr algn="l"/>
            <a:r>
              <a:rPr lang="fr-FR" sz="2200" b="1">
                <a:solidFill>
                  <a:srgbClr val="101827"/>
                </a:solidFill>
                <a:latin typeface="Segoe UI"/>
              </a:rPr>
              <a:t>Mots_interdits.csv</a:t>
            </a:r>
            <a:endParaRPr lang="fr-FR" sz="2200"/>
          </a:p>
        </p:txBody>
      </p:sp>
      <p:sp>
        <p:nvSpPr>
          <p:cNvPr id="12" name="Text"/>
          <p:cNvSpPr txBox="1"/>
          <p:nvPr/>
        </p:nvSpPr>
        <p:spPr>
          <a:xfrm>
            <a:off x="1282700" y="2559050"/>
            <a:ext cx="1905000" cy="152400"/>
          </a:xfrm>
          <a:prstGeom prst="rect">
            <a:avLst/>
          </a:prstGeom>
          <a:noFill/>
          <a:ln>
            <a:noFill/>
          </a:ln>
        </p:spPr>
        <p:txBody>
          <a:bodyPr wrap="square" inset="0" lIns="0" tIns="0" rIns="0" bIns="0"/>
          <a:lstStyle/>
          <a:p>
            <a:pPr algn="l"/>
            <a:r>
              <a:rPr lang="fr-FR" sz="1700">
                <a:solidFill>
                  <a:srgbClr val="41546B"/>
                </a:solidFill>
                <a:latin typeface="Segoe UI"/>
              </a:rPr>
              <a:t>Regles metier : categorie, terme interdit, justification.</a:t>
            </a:r>
            <a:endParaRPr lang="fr-FR" sz="1700"/>
          </a:p>
        </p:txBody>
      </p:sp>
      <p:sp>
        <p:nvSpPr>
          <p:cNvPr id="13" name="Text"/>
          <p:cNvSpPr txBox="1"/>
          <p:nvPr/>
        </p:nvSpPr>
        <p:spPr>
          <a:xfrm>
            <a:off x="1282700" y="2717800"/>
            <a:ext cx="1905000" cy="114300"/>
          </a:xfrm>
          <a:prstGeom prst="rect">
            <a:avLst/>
          </a:prstGeom>
          <a:noFill/>
          <a:ln>
            <a:noFill/>
          </a:ln>
        </p:spPr>
        <p:txBody>
          <a:bodyPr wrap="square" inset="0" lIns="0" tIns="0" rIns="0" bIns="0"/>
          <a:lstStyle/>
          <a:p>
            <a:pPr algn="l"/>
            <a:r>
              <a:rPr lang="fr-FR" sz="1400">
                <a:solidFill>
                  <a:srgbClr val="66788D"/>
                </a:solidFill>
                <a:latin typeface="Segoe UI"/>
              </a:rPr>
              <a:t>Alimente le referentiel de detection.</a:t>
            </a:r>
            <a:endParaRPr lang="fr-FR" sz="1400"/>
          </a:p>
        </p:txBody>
      </p:sp>
      <p:sp>
        <p:nvSpPr>
          <p:cNvPr id="14" name="Shape"/>
          <p:cNvSpPr/>
          <p:nvPr/>
        </p:nvSpPr>
        <p:spPr>
          <a:xfrm>
            <a:off x="711200" y="2984500"/>
            <a:ext cx="2603500" cy="660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E9FB"/>
            </a:solidFill>
          </a:ln>
        </p:spPr>
        <p:txBody>
          <a:bodyPr/>
          <a:lstStyle/>
          <a:p/>
        </p:txBody>
      </p:sp>
      <p:sp>
        <p:nvSpPr>
          <p:cNvPr id="15" name="Shape"/>
          <p:cNvSpPr/>
          <p:nvPr/>
        </p:nvSpPr>
        <p:spPr>
          <a:xfrm>
            <a:off x="863600" y="3136900"/>
            <a:ext cx="292100" cy="292100"/>
          </a:xfrm>
          <a:prstGeom prst="roundRect">
            <a:avLst/>
          </a:prstGeom>
          <a:solidFill>
            <a:srgbClr val="00A2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xt"/>
          <p:cNvSpPr txBox="1"/>
          <p:nvPr/>
        </p:nvSpPr>
        <p:spPr>
          <a:xfrm>
            <a:off x="933450" y="3232150"/>
            <a:ext cx="190500" cy="127000"/>
          </a:xfrm>
          <a:prstGeom prst="rect">
            <a:avLst/>
          </a:prstGeom>
          <a:noFill/>
          <a:ln>
            <a:noFill/>
          </a:ln>
        </p:spPr>
        <p:txBody>
          <a:bodyPr wrap="square" inset="0" lIns="0" tIns="0" rIns="0" bIns="0"/>
          <a:lstStyle/>
          <a:p>
            <a:pPr algn="ctr"/>
            <a:r>
              <a:rPr lang="fr-FR" sz="1400" b="1">
                <a:solidFill>
                  <a:srgbClr val="FFFFFF"/>
                </a:solidFill>
                <a:latin typeface="Segoe UI"/>
              </a:rPr>
              <a:t>CSV</a:t>
            </a:r>
            <a:endParaRPr lang="fr-FR" sz="1400"/>
          </a:p>
        </p:txBody>
      </p:sp>
      <p:sp>
        <p:nvSpPr>
          <p:cNvPr id="17" name="Text"/>
          <p:cNvSpPr txBox="1"/>
          <p:nvPr/>
        </p:nvSpPr>
        <p:spPr>
          <a:xfrm>
            <a:off x="1282700" y="3149600"/>
            <a:ext cx="1816100" cy="177800"/>
          </a:xfrm>
          <a:prstGeom prst="rect">
            <a:avLst/>
          </a:prstGeom>
          <a:noFill/>
          <a:ln>
            <a:noFill/>
          </a:ln>
        </p:spPr>
        <p:txBody>
          <a:bodyPr wrap="square" inset="0" lIns="0" tIns="0" rIns="0" bIns="0"/>
          <a:lstStyle/>
          <a:p>
            <a:pPr algn="l"/>
            <a:r>
              <a:rPr lang="fr-FR" sz="2200" b="1">
                <a:solidFill>
                  <a:srgbClr val="101827"/>
                </a:solidFill>
                <a:latin typeface="Segoe UI"/>
              </a:rPr>
              <a:t>spacy_synonyms.csv</a:t>
            </a:r>
            <a:endParaRPr lang="fr-FR" sz="2200"/>
          </a:p>
        </p:txBody>
      </p:sp>
      <p:sp>
        <p:nvSpPr>
          <p:cNvPr id="18" name="Text"/>
          <p:cNvSpPr txBox="1"/>
          <p:nvPr/>
        </p:nvSpPr>
        <p:spPr>
          <a:xfrm>
            <a:off x="1282700" y="3359150"/>
            <a:ext cx="1905000" cy="152400"/>
          </a:xfrm>
          <a:prstGeom prst="rect">
            <a:avLst/>
          </a:prstGeom>
          <a:noFill/>
          <a:ln>
            <a:noFill/>
          </a:ln>
        </p:spPr>
        <p:txBody>
          <a:bodyPr wrap="square" inset="0" lIns="0" tIns="0" rIns="0" bIns="0"/>
          <a:lstStyle/>
          <a:p>
            <a:pPr algn="l"/>
            <a:r>
              <a:rPr lang="fr-FR" sz="1700">
                <a:solidFill>
                  <a:srgbClr val="41546B"/>
                </a:solidFill>
                <a:latin typeface="Segoe UI"/>
              </a:rPr>
              <a:t>Dictionnaire de synonymes et variantes.</a:t>
            </a:r>
            <a:endParaRPr lang="fr-FR" sz="1700"/>
          </a:p>
        </p:txBody>
      </p:sp>
      <p:sp>
        <p:nvSpPr>
          <p:cNvPr id="19" name="Text"/>
          <p:cNvSpPr txBox="1"/>
          <p:nvPr/>
        </p:nvSpPr>
        <p:spPr>
          <a:xfrm>
            <a:off x="1282700" y="3517900"/>
            <a:ext cx="1905000" cy="114300"/>
          </a:xfrm>
          <a:prstGeom prst="rect">
            <a:avLst/>
          </a:prstGeom>
          <a:noFill/>
          <a:ln>
            <a:noFill/>
          </a:ln>
        </p:spPr>
        <p:txBody>
          <a:bodyPr wrap="square" inset="0" lIns="0" tIns="0" rIns="0" bIns="0"/>
          <a:lstStyle/>
          <a:p>
            <a:pPr algn="l"/>
            <a:r>
              <a:rPr lang="fr-FR" sz="1400">
                <a:solidFill>
                  <a:srgbClr val="66788D"/>
                </a:solidFill>
                <a:latin typeface="Segoe UI"/>
              </a:rPr>
              <a:t>Utilise et enrichi par la branche spacy.</a:t>
            </a:r>
            <a:endParaRPr lang="fr-FR" sz="1400"/>
          </a:p>
        </p:txBody>
      </p:sp>
      <p:sp>
        <p:nvSpPr>
          <p:cNvPr id="20" name="Shape"/>
          <p:cNvSpPr/>
          <p:nvPr/>
        </p:nvSpPr>
        <p:spPr>
          <a:xfrm>
            <a:off x="711200" y="3784600"/>
            <a:ext cx="2603500" cy="660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E9FB"/>
            </a:solidFill>
          </a:ln>
        </p:spPr>
        <p:txBody>
          <a:bodyPr/>
          <a:lstStyle/>
          <a:p/>
        </p:txBody>
      </p:sp>
      <p:sp>
        <p:nvSpPr>
          <p:cNvPr id="21" name="Shape"/>
          <p:cNvSpPr/>
          <p:nvPr/>
        </p:nvSpPr>
        <p:spPr>
          <a:xfrm>
            <a:off x="863600" y="3937000"/>
            <a:ext cx="292100" cy="29210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Text"/>
          <p:cNvSpPr txBox="1"/>
          <p:nvPr/>
        </p:nvSpPr>
        <p:spPr>
          <a:xfrm>
            <a:off x="933450" y="4032250"/>
            <a:ext cx="190500" cy="127000"/>
          </a:xfrm>
          <a:prstGeom prst="rect">
            <a:avLst/>
          </a:prstGeom>
          <a:noFill/>
          <a:ln>
            <a:noFill/>
          </a:ln>
        </p:spPr>
        <p:txBody>
          <a:bodyPr wrap="square" inset="0" lIns="0" tIns="0" rIns="0" bIns="0"/>
          <a:lstStyle/>
          <a:p>
            <a:pPr algn="ctr"/>
            <a:r>
              <a:rPr lang="fr-FR" sz="1400" b="1">
                <a:solidFill>
                  <a:srgbClr val="FFFFFF"/>
                </a:solidFill>
                <a:latin typeface="Segoe UI"/>
              </a:rPr>
              <a:t>CSV</a:t>
            </a:r>
            <a:endParaRPr lang="fr-FR" sz="1400"/>
          </a:p>
        </p:txBody>
      </p:sp>
      <p:sp>
        <p:nvSpPr>
          <p:cNvPr id="23" name="Text"/>
          <p:cNvSpPr txBox="1"/>
          <p:nvPr/>
        </p:nvSpPr>
        <p:spPr>
          <a:xfrm>
            <a:off x="1282700" y="3949700"/>
            <a:ext cx="1816100" cy="177800"/>
          </a:xfrm>
          <a:prstGeom prst="rect">
            <a:avLst/>
          </a:prstGeom>
          <a:noFill/>
          <a:ln>
            <a:noFill/>
          </a:ln>
        </p:spPr>
        <p:txBody>
          <a:bodyPr wrap="square" inset="0" lIns="0" tIns="0" rIns="0" bIns="0"/>
          <a:lstStyle/>
          <a:p>
            <a:pPr algn="l"/>
            <a:r>
              <a:rPr lang="fr-FR" sz="2200" b="1">
                <a:solidFill>
                  <a:srgbClr val="101827"/>
                </a:solidFill>
                <a:latin typeface="Segoe UI"/>
              </a:rPr>
              <a:t>whitelist.csv</a:t>
            </a:r>
            <a:endParaRPr lang="fr-FR" sz="2200"/>
          </a:p>
        </p:txBody>
      </p:sp>
      <p:sp>
        <p:nvSpPr>
          <p:cNvPr id="24" name="Text"/>
          <p:cNvSpPr txBox="1"/>
          <p:nvPr/>
        </p:nvSpPr>
        <p:spPr>
          <a:xfrm>
            <a:off x="1282700" y="4159250"/>
            <a:ext cx="1905000" cy="152400"/>
          </a:xfrm>
          <a:prstGeom prst="rect">
            <a:avLst/>
          </a:prstGeom>
          <a:noFill/>
          <a:ln>
            <a:noFill/>
          </a:ln>
        </p:spPr>
        <p:txBody>
          <a:bodyPr wrap="square" inset="0" lIns="0" tIns="0" rIns="0" bIns="0"/>
          <a:lstStyle/>
          <a:p>
            <a:pPr algn="l"/>
            <a:r>
              <a:rPr lang="fr-FR" sz="1700">
                <a:solidFill>
                  <a:srgbClr val="41546B"/>
                </a:solidFill>
                <a:latin typeface="Segoe UI"/>
              </a:rPr>
              <a:t>Expressions a exclure des alertes.</a:t>
            </a:r>
            <a:endParaRPr lang="fr-FR" sz="1700"/>
          </a:p>
        </p:txBody>
      </p:sp>
      <p:sp>
        <p:nvSpPr>
          <p:cNvPr id="25" name="Text"/>
          <p:cNvSpPr txBox="1"/>
          <p:nvPr/>
        </p:nvSpPr>
        <p:spPr>
          <a:xfrm>
            <a:off x="1282700" y="4318000"/>
            <a:ext cx="1905000" cy="114300"/>
          </a:xfrm>
          <a:prstGeom prst="rect">
            <a:avLst/>
          </a:prstGeom>
          <a:noFill/>
          <a:ln>
            <a:noFill/>
          </a:ln>
        </p:spPr>
        <p:txBody>
          <a:bodyPr wrap="square" inset="0" lIns="0" tIns="0" rIns="0" bIns="0"/>
          <a:lstStyle/>
          <a:p>
            <a:pPr algn="l"/>
            <a:r>
              <a:rPr lang="fr-FR" sz="1400">
                <a:solidFill>
                  <a:srgbClr val="66788D"/>
                </a:solidFill>
                <a:latin typeface="Segoe UI"/>
              </a:rPr>
              <a:t>Filtre les faux positifs apres detection.</a:t>
            </a:r>
            <a:endParaRPr lang="fr-FR" sz="1400"/>
          </a:p>
        </p:txBody>
      </p:sp>
      <p:sp>
        <p:nvSpPr>
          <p:cNvPr id="26" name="Shape"/>
          <p:cNvSpPr/>
          <p:nvPr/>
        </p:nvSpPr>
        <p:spPr>
          <a:xfrm>
            <a:off x="711200" y="4584700"/>
            <a:ext cx="2603500" cy="660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E9FB"/>
            </a:solidFill>
          </a:ln>
        </p:spPr>
        <p:txBody>
          <a:bodyPr/>
          <a:lstStyle/>
          <a:p/>
        </p:txBody>
      </p:sp>
      <p:sp>
        <p:nvSpPr>
          <p:cNvPr id="27" name="Shape"/>
          <p:cNvSpPr/>
          <p:nvPr/>
        </p:nvSpPr>
        <p:spPr>
          <a:xfrm>
            <a:off x="863600" y="4737100"/>
            <a:ext cx="292100" cy="292100"/>
          </a:xfrm>
          <a:prstGeom prst="roundRect">
            <a:avLst/>
          </a:prstGeom>
          <a:solidFill>
            <a:srgbClr val="8764B8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Text"/>
          <p:cNvSpPr txBox="1"/>
          <p:nvPr/>
        </p:nvSpPr>
        <p:spPr>
          <a:xfrm>
            <a:off x="933450" y="4832350"/>
            <a:ext cx="190500" cy="127000"/>
          </a:xfrm>
          <a:prstGeom prst="rect">
            <a:avLst/>
          </a:prstGeom>
          <a:noFill/>
          <a:ln>
            <a:noFill/>
          </a:ln>
        </p:spPr>
        <p:txBody>
          <a:bodyPr wrap="square" inset="0" lIns="0" tIns="0" rIns="0" bIns="0"/>
          <a:lstStyle/>
          <a:p>
            <a:pPr algn="ctr"/>
            <a:r>
              <a:rPr lang="fr-FR" sz="1400" b="1">
                <a:solidFill>
                  <a:srgbClr val="FFFFFF"/>
                </a:solidFill>
                <a:latin typeface="Segoe UI"/>
              </a:rPr>
              <a:t>CSV</a:t>
            </a:r>
            <a:endParaRPr lang="fr-FR" sz="1400"/>
          </a:p>
        </p:txBody>
      </p:sp>
      <p:sp>
        <p:nvSpPr>
          <p:cNvPr id="29" name="Text"/>
          <p:cNvSpPr txBox="1"/>
          <p:nvPr/>
        </p:nvSpPr>
        <p:spPr>
          <a:xfrm>
            <a:off x="1282700" y="4749800"/>
            <a:ext cx="1816100" cy="177800"/>
          </a:xfrm>
          <a:prstGeom prst="rect">
            <a:avLst/>
          </a:prstGeom>
          <a:noFill/>
          <a:ln>
            <a:noFill/>
          </a:ln>
        </p:spPr>
        <p:txBody>
          <a:bodyPr wrap="square" inset="0" lIns="0" tIns="0" rIns="0" bIns="0"/>
          <a:lstStyle/>
          <a:p>
            <a:pPr algn="l"/>
            <a:r>
              <a:rPr lang="fr-FR" sz="2200" b="1">
                <a:solidFill>
                  <a:srgbClr val="101827"/>
                </a:solidFill>
                <a:latin typeface="Segoe UI"/>
              </a:rPr>
              <a:t>test_cases.csv</a:t>
            </a:r>
            <a:endParaRPr lang="fr-FR" sz="2200"/>
          </a:p>
        </p:txBody>
      </p:sp>
      <p:sp>
        <p:nvSpPr>
          <p:cNvPr id="30" name="Text"/>
          <p:cNvSpPr txBox="1"/>
          <p:nvPr/>
        </p:nvSpPr>
        <p:spPr>
          <a:xfrm>
            <a:off x="1282700" y="4959350"/>
            <a:ext cx="1905000" cy="152400"/>
          </a:xfrm>
          <a:prstGeom prst="rect">
            <a:avLst/>
          </a:prstGeom>
          <a:noFill/>
          <a:ln>
            <a:noFill/>
          </a:ln>
        </p:spPr>
        <p:txBody>
          <a:bodyPr wrap="square" inset="0" lIns="0" tIns="0" rIns="0" bIns="0"/>
          <a:lstStyle/>
          <a:p>
            <a:pPr algn="l"/>
            <a:r>
              <a:rPr lang="fr-FR" sz="1700">
                <a:solidFill>
                  <a:srgbClr val="41546B"/>
                </a:solidFill>
                <a:latin typeface="Segoe UI"/>
              </a:rPr>
              <a:t>Cas de test pour mesurer les performances.</a:t>
            </a:r>
            <a:endParaRPr lang="fr-FR" sz="1700"/>
          </a:p>
        </p:txBody>
      </p:sp>
      <p:sp>
        <p:nvSpPr>
          <p:cNvPr id="31" name="Text"/>
          <p:cNvSpPr txBox="1"/>
          <p:nvPr/>
        </p:nvSpPr>
        <p:spPr>
          <a:xfrm>
            <a:off x="1282700" y="5118100"/>
            <a:ext cx="1905000" cy="114300"/>
          </a:xfrm>
          <a:prstGeom prst="rect">
            <a:avLst/>
          </a:prstGeom>
          <a:noFill/>
          <a:ln>
            <a:noFill/>
          </a:ln>
        </p:spPr>
        <p:txBody>
          <a:bodyPr wrap="square" inset="0" lIns="0" tIns="0" rIns="0" bIns="0"/>
          <a:lstStyle/>
          <a:p>
            <a:pPr algn="l"/>
            <a:r>
              <a:rPr lang="fr-FR" sz="1400">
                <a:solidFill>
                  <a:srgbClr val="66788D"/>
                </a:solidFill>
                <a:latin typeface="Segoe UI"/>
              </a:rPr>
              <a:t>Compare precision, scores et detections par branche.</a:t>
            </a:r>
            <a:endParaRPr lang="fr-FR" sz="1400"/>
          </a:p>
        </p:txBody>
      </p:sp>
      <p:sp>
        <p:nvSpPr>
          <p:cNvPr id="32" name="Shape"/>
          <p:cNvSpPr/>
          <p:nvPr/>
        </p:nvSpPr>
        <p:spPr>
          <a:xfrm>
            <a:off x="4495800" y="2235200"/>
            <a:ext cx="2044700" cy="18542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Shape"/>
          <p:cNvSpPr/>
          <p:nvPr/>
        </p:nvSpPr>
        <p:spPr>
          <a:xfrm>
            <a:off x="4724400" y="2476500"/>
            <a:ext cx="1587500" cy="342900"/>
          </a:xfrm>
          <a:prstGeom prst="roundRect">
            <a:avLst/>
          </a:prstGeom>
          <a:solidFill>
            <a:srgbClr val="2B88D8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Shape"/>
          <p:cNvSpPr/>
          <p:nvPr/>
        </p:nvSpPr>
        <p:spPr>
          <a:xfrm>
            <a:off x="4724400" y="2959100"/>
            <a:ext cx="1587500" cy="342900"/>
          </a:xfrm>
          <a:prstGeom prst="roundRect">
            <a:avLst/>
          </a:prstGeom>
          <a:solidFill>
            <a:srgbClr val="2B88D8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Shape"/>
          <p:cNvSpPr/>
          <p:nvPr/>
        </p:nvSpPr>
        <p:spPr>
          <a:xfrm>
            <a:off x="4724400" y="3441700"/>
            <a:ext cx="1587500" cy="342900"/>
          </a:xfrm>
          <a:prstGeom prst="roundRect">
            <a:avLst/>
          </a:prstGeom>
          <a:solidFill>
            <a:srgbClr val="2B88D8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Text"/>
          <p:cNvSpPr txBox="1"/>
          <p:nvPr/>
        </p:nvSpPr>
        <p:spPr>
          <a:xfrm>
            <a:off x="4889500" y="2584450"/>
            <a:ext cx="1333500" cy="177800"/>
          </a:xfrm>
          <a:prstGeom prst="rect">
            <a:avLst/>
          </a:prstGeom>
          <a:noFill/>
          <a:ln>
            <a:noFill/>
          </a:ln>
        </p:spPr>
        <p:txBody>
          <a:bodyPr wrap="square" inset="0" lIns="0" tIns="0" rIns="0" bIns="0"/>
          <a:lstStyle/>
          <a:p>
            <a:pPr algn="l"/>
            <a:r>
              <a:rPr lang="fr-FR" sz="2200" b="1">
                <a:solidFill>
                  <a:srgbClr val="FFFFFF"/>
                </a:solidFill>
                <a:latin typeface="Segoe UI"/>
              </a:rPr>
              <a:t>JupyterHub notebook</a:t>
            </a:r>
            <a:endParaRPr lang="fr-FR" sz="2200"/>
          </a:p>
        </p:txBody>
      </p:sp>
      <p:sp>
        <p:nvSpPr>
          <p:cNvPr id="37" name="Text"/>
          <p:cNvSpPr txBox="1"/>
          <p:nvPr/>
        </p:nvSpPr>
        <p:spPr>
          <a:xfrm>
            <a:off x="4902200" y="3067050"/>
            <a:ext cx="1143000" cy="152400"/>
          </a:xfrm>
          <a:prstGeom prst="rect">
            <a:avLst/>
          </a:prstGeom>
          <a:noFill/>
          <a:ln>
            <a:noFill/>
          </a:ln>
        </p:spPr>
        <p:txBody>
          <a:bodyPr wrap="square" inset="0" lIns="0" tIns="0" rIns="0" bIns="0"/>
          <a:lstStyle/>
          <a:p>
            <a:pPr algn="l"/>
            <a:r>
              <a:rPr lang="fr-FR" sz="1800">
                <a:solidFill>
                  <a:srgbClr val="FFFFFF"/>
                </a:solidFill>
                <a:latin typeface="Segoe UI"/>
              </a:rPr>
              <a:t>analyze_text()</a:t>
            </a:r>
            <a:endParaRPr lang="fr-FR" sz="1800"/>
          </a:p>
        </p:txBody>
      </p:sp>
      <p:sp>
        <p:nvSpPr>
          <p:cNvPr id="38" name="Text"/>
          <p:cNvSpPr txBox="1"/>
          <p:nvPr/>
        </p:nvSpPr>
        <p:spPr>
          <a:xfrm>
            <a:off x="4902200" y="3549650"/>
            <a:ext cx="1333500" cy="152400"/>
          </a:xfrm>
          <a:prstGeom prst="rect">
            <a:avLst/>
          </a:prstGeom>
          <a:noFill/>
          <a:ln>
            <a:noFill/>
          </a:ln>
        </p:spPr>
        <p:txBody>
          <a:bodyPr wrap="square" inset="0" lIns="0" tIns="0" rIns="0" bIns="0"/>
          <a:lstStyle/>
          <a:p>
            <a:pPr algn="l"/>
            <a:r>
              <a:rPr lang="fr-FR" sz="1800">
                <a:solidFill>
                  <a:srgbClr val="FFFFFF"/>
                </a:solidFill>
                <a:latin typeface="Segoe UI"/>
              </a:rPr>
              <a:t>comparison_df / scores</a:t>
            </a:r>
            <a:endParaRPr lang="fr-FR" sz="1800"/>
          </a:p>
        </p:txBody>
      </p:sp>
      <p:sp>
        <p:nvSpPr>
          <p:cNvPr id="39" name="Text"/>
          <p:cNvSpPr txBox="1"/>
          <p:nvPr/>
        </p:nvSpPr>
        <p:spPr>
          <a:xfrm>
            <a:off x="4508500" y="4343400"/>
            <a:ext cx="1968500" cy="215900"/>
          </a:xfrm>
          <a:prstGeom prst="rect">
            <a:avLst/>
          </a:prstGeom>
          <a:noFill/>
          <a:ln>
            <a:noFill/>
          </a:ln>
        </p:spPr>
        <p:txBody>
          <a:bodyPr wrap="square" inset="0" lIns="0" tIns="0" rIns="0" bIns="0"/>
          <a:lstStyle/>
          <a:p>
            <a:pPr algn="ctr"/>
            <a:r>
              <a:rPr lang="fr-FR" sz="2800" b="1">
                <a:solidFill>
                  <a:srgbClr val="101827"/>
                </a:solidFill>
                <a:latin typeface="Segoe UI"/>
              </a:rPr>
              <a:t>Comparaison centrale</a:t>
            </a:r>
            <a:endParaRPr lang="fr-FR" sz="2800"/>
          </a:p>
        </p:txBody>
      </p:sp>
      <p:sp>
        <p:nvSpPr>
          <p:cNvPr id="40" name="Text"/>
          <p:cNvSpPr txBox="1"/>
          <p:nvPr/>
        </p:nvSpPr>
        <p:spPr>
          <a:xfrm>
            <a:off x="4305300" y="4603750"/>
            <a:ext cx="2476500" cy="152400"/>
          </a:xfrm>
          <a:prstGeom prst="rect">
            <a:avLst/>
          </a:prstGeom>
          <a:noFill/>
          <a:ln>
            <a:noFill/>
          </a:ln>
        </p:spPr>
        <p:txBody>
          <a:bodyPr wrap="square" inset="0" lIns="0" tIns="0" rIns="0" bIns="0"/>
          <a:lstStyle/>
          <a:p>
            <a:pPr algn="ctr"/>
            <a:r>
              <a:rPr lang="fr-FR" sz="1800">
                <a:solidFill>
                  <a:srgbClr val="41546B"/>
                </a:solidFill>
                <a:latin typeface="Segoe UI"/>
              </a:rPr>
              <a:t>Activation des branches et consolidation des resultats.</a:t>
            </a:r>
            <a:endParaRPr lang="fr-FR" sz="1800"/>
          </a:p>
        </p:txBody>
      </p:sp>
      <p:cxnSp>
        <p:nvCxnSpPr>
          <p:cNvPr id="41" name="Connector"/>
          <p:cNvCxnSpPr/>
          <p:nvPr/>
        </p:nvCxnSpPr>
        <p:spPr>
          <a:xfrm flipV="1">
            <a:off x="3632200" y="3175000"/>
            <a:ext cx="812800" cy="381000"/>
          </a:xfrm>
          <a:prstGeom prst="straightConnector1">
            <a:avLst/>
          </a:prstGeom>
          <a:ln w="25400">
            <a:solidFill>
              <a:srgbClr val="0078D4"/>
            </a:solidFill>
            <a:tailEnd type="triangle"/>
          </a:ln>
        </p:spPr>
      </p:cxnSp>
      <p:cxnSp>
        <p:nvCxnSpPr>
          <p:cNvPr id="42" name="Connector"/>
          <p:cNvCxnSpPr/>
          <p:nvPr/>
        </p:nvCxnSpPr>
        <p:spPr>
          <a:xfrm flipV="1">
            <a:off x="6553200" y="1555750"/>
            <a:ext cx="914400" cy="1587500"/>
          </a:xfrm>
          <a:prstGeom prst="straightConnector1">
            <a:avLst/>
          </a:prstGeom>
          <a:ln w="25400">
            <a:solidFill>
              <a:srgbClr val="0078D4"/>
            </a:solidFill>
            <a:tailEnd type="triangle"/>
          </a:ln>
        </p:spPr>
      </p:cxnSp>
      <p:cxnSp>
        <p:nvCxnSpPr>
          <p:cNvPr id="43" name="Connector"/>
          <p:cNvCxnSpPr/>
          <p:nvPr/>
        </p:nvCxnSpPr>
        <p:spPr>
          <a:xfrm flipV="1">
            <a:off x="6553200" y="2686050"/>
            <a:ext cx="914400" cy="520700"/>
          </a:xfrm>
          <a:prstGeom prst="straightConnector1">
            <a:avLst/>
          </a:prstGeom>
          <a:ln w="25400">
            <a:solidFill>
              <a:srgbClr val="0078D4"/>
            </a:solidFill>
            <a:tailEnd type="triangle"/>
          </a:ln>
        </p:spPr>
      </p:cxnSp>
      <p:cxnSp>
        <p:nvCxnSpPr>
          <p:cNvPr id="44" name="Connector"/>
          <p:cNvCxnSpPr/>
          <p:nvPr/>
        </p:nvCxnSpPr>
        <p:spPr>
          <a:xfrm>
            <a:off x="6553200" y="3333750"/>
            <a:ext cx="914400" cy="800100"/>
          </a:xfrm>
          <a:prstGeom prst="straightConnector1">
            <a:avLst/>
          </a:prstGeom>
          <a:ln w="25400">
            <a:solidFill>
              <a:srgbClr val="0078D4"/>
            </a:solidFill>
            <a:tailEnd type="triangle"/>
          </a:ln>
        </p:spPr>
      </p:cxnSp>
      <p:cxnSp>
        <p:nvCxnSpPr>
          <p:cNvPr id="45" name="Connector"/>
          <p:cNvCxnSpPr/>
          <p:nvPr/>
        </p:nvCxnSpPr>
        <p:spPr>
          <a:xfrm>
            <a:off x="6553200" y="3397250"/>
            <a:ext cx="914400" cy="1866900"/>
          </a:xfrm>
          <a:prstGeom prst="straightConnector1">
            <a:avLst/>
          </a:prstGeom>
          <a:ln w="25400">
            <a:solidFill>
              <a:srgbClr val="0078D4"/>
            </a:solidFill>
            <a:tailEnd type="triangle"/>
          </a:ln>
        </p:spPr>
      </p:cxnSp>
      <p:sp>
        <p:nvSpPr>
          <p:cNvPr id="46" name="Shape"/>
          <p:cNvSpPr/>
          <p:nvPr/>
        </p:nvSpPr>
        <p:spPr>
          <a:xfrm>
            <a:off x="7607300" y="1104900"/>
            <a:ext cx="4000500" cy="9017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FE6FF"/>
            </a:solidFill>
          </a:ln>
        </p:spPr>
        <p:txBody>
          <a:bodyPr/>
          <a:lstStyle/>
          <a:p/>
        </p:txBody>
      </p:sp>
      <p:sp>
        <p:nvSpPr>
          <p:cNvPr id="47" name="Shape"/>
          <p:cNvSpPr/>
          <p:nvPr/>
        </p:nvSpPr>
        <p:spPr>
          <a:xfrm>
            <a:off x="7772400" y="1301750"/>
            <a:ext cx="482600" cy="482600"/>
          </a:xfrm>
          <a:prstGeom prst="roundRect">
            <a:avLst/>
          </a:prstGeom>
          <a:solidFill>
            <a:srgbClr val="E8F3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8" name="Text"/>
          <p:cNvSpPr txBox="1"/>
          <p:nvPr/>
        </p:nvSpPr>
        <p:spPr>
          <a:xfrm>
            <a:off x="7854950" y="1454150"/>
            <a:ext cx="285750" cy="177800"/>
          </a:xfrm>
          <a:prstGeom prst="rect">
            <a:avLst/>
          </a:prstGeom>
          <a:noFill/>
          <a:ln>
            <a:noFill/>
          </a:ln>
        </p:spPr>
        <p:txBody>
          <a:bodyPr wrap="square" inset="0" lIns="0" tIns="0" rIns="0" bIns="0"/>
          <a:lstStyle/>
          <a:p>
            <a:pPr algn="ctr"/>
            <a:r>
              <a:rPr lang="fr-FR" sz="2200" b="1">
                <a:solidFill>
                  <a:srgbClr val="0078D4"/>
                </a:solidFill>
                <a:latin typeface="Segoe UI"/>
              </a:rPr>
              <a:t>01</a:t>
            </a:r>
            <a:endParaRPr lang="fr-FR" sz="2200"/>
          </a:p>
        </p:txBody>
      </p:sp>
      <p:sp>
        <p:nvSpPr>
          <p:cNvPr id="49" name="Text"/>
          <p:cNvSpPr txBox="1"/>
          <p:nvPr/>
        </p:nvSpPr>
        <p:spPr>
          <a:xfrm>
            <a:off x="8420100" y="1333500"/>
            <a:ext cx="1079500" cy="215900"/>
          </a:xfrm>
          <a:prstGeom prst="rect">
            <a:avLst/>
          </a:prstGeom>
          <a:noFill/>
          <a:ln>
            <a:noFill/>
          </a:ln>
        </p:spPr>
        <p:txBody>
          <a:bodyPr wrap="square" inset="0" lIns="0" tIns="0" rIns="0" bIns="0"/>
          <a:lstStyle/>
          <a:p>
            <a:pPr algn="l"/>
            <a:r>
              <a:rPr lang="fr-FR" sz="2800" b="1">
                <a:solidFill>
                  <a:srgbClr val="101827"/>
                </a:solidFill>
                <a:latin typeface="Segoe UI"/>
              </a:rPr>
              <a:t>generic</a:t>
            </a:r>
            <a:endParaRPr lang="fr-FR" sz="2800"/>
          </a:p>
        </p:txBody>
      </p:sp>
      <p:sp>
        <p:nvSpPr>
          <p:cNvPr id="50" name="Text"/>
          <p:cNvSpPr txBox="1"/>
          <p:nvPr/>
        </p:nvSpPr>
        <p:spPr>
          <a:xfrm>
            <a:off x="8420100" y="1631950"/>
            <a:ext cx="2933700" cy="152400"/>
          </a:xfrm>
          <a:prstGeom prst="rect">
            <a:avLst/>
          </a:prstGeom>
          <a:noFill/>
          <a:ln>
            <a:noFill/>
          </a:ln>
        </p:spPr>
        <p:txBody>
          <a:bodyPr wrap="square" inset="0" lIns="0" tIns="0" rIns="0" bIns="0"/>
          <a:lstStyle/>
          <a:p>
            <a:pPr algn="l"/>
            <a:r>
              <a:rPr lang="fr-FR" sz="1800">
                <a:solidFill>
                  <a:srgbClr val="41546B"/>
                </a:solidFill>
                <a:latin typeface="Segoe UI"/>
              </a:rPr>
              <a:t>Detecte : termes exacts, racines, fuzzy et synonymes configures.</a:t>
            </a:r>
            <a:endParaRPr lang="fr-FR" sz="1800"/>
          </a:p>
        </p:txBody>
      </p:sp>
      <p:sp>
        <p:nvSpPr>
          <p:cNvPr id="51" name="Text"/>
          <p:cNvSpPr txBox="1"/>
          <p:nvPr/>
        </p:nvSpPr>
        <p:spPr>
          <a:xfrm>
            <a:off x="8420100" y="1816100"/>
            <a:ext cx="2933700" cy="152400"/>
          </a:xfrm>
          <a:prstGeom prst="rect">
            <a:avLst/>
          </a:prstGeom>
          <a:noFill/>
          <a:ln>
            <a:noFill/>
          </a:ln>
        </p:spPr>
        <p:txBody>
          <a:bodyPr wrap="square" inset="0" lIns="0" tIns="0" rIns="0" bIns="0"/>
          <a:lstStyle/>
          <a:p>
            <a:pPr algn="l"/>
            <a:r>
              <a:rPr lang="fr-FR" sz="1800">
                <a:solidFill>
                  <a:srgbClr val="41546B"/>
                </a:solidFill>
                <a:latin typeface="Segoe UI"/>
              </a:rPr>
              <a:t>Couvre : regles metier explicables et alertes scorees.</a:t>
            </a:r>
            <a:endParaRPr lang="fr-FR" sz="1800"/>
          </a:p>
        </p:txBody>
      </p:sp>
      <p:sp>
        <p:nvSpPr>
          <p:cNvPr id="52" name="Shape"/>
          <p:cNvSpPr/>
          <p:nvPr/>
        </p:nvSpPr>
        <p:spPr>
          <a:xfrm>
            <a:off x="7607300" y="2235200"/>
            <a:ext cx="4000500" cy="9017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FE6FF"/>
            </a:solidFill>
          </a:ln>
        </p:spPr>
        <p:txBody>
          <a:bodyPr/>
          <a:lstStyle/>
          <a:p/>
        </p:txBody>
      </p:sp>
      <p:sp>
        <p:nvSpPr>
          <p:cNvPr id="53" name="Shape"/>
          <p:cNvSpPr/>
          <p:nvPr/>
        </p:nvSpPr>
        <p:spPr>
          <a:xfrm>
            <a:off x="7772400" y="2432050"/>
            <a:ext cx="482600" cy="482600"/>
          </a:xfrm>
          <a:prstGeom prst="roundRect">
            <a:avLst/>
          </a:prstGeom>
          <a:solidFill>
            <a:srgbClr val="E8F3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4" name="Text"/>
          <p:cNvSpPr txBox="1"/>
          <p:nvPr/>
        </p:nvSpPr>
        <p:spPr>
          <a:xfrm>
            <a:off x="7854950" y="2584450"/>
            <a:ext cx="285750" cy="177800"/>
          </a:xfrm>
          <a:prstGeom prst="rect">
            <a:avLst/>
          </a:prstGeom>
          <a:noFill/>
          <a:ln>
            <a:noFill/>
          </a:ln>
        </p:spPr>
        <p:txBody>
          <a:bodyPr wrap="square" inset="0" lIns="0" tIns="0" rIns="0" bIns="0"/>
          <a:lstStyle/>
          <a:p>
            <a:pPr algn="ctr"/>
            <a:r>
              <a:rPr lang="fr-FR" sz="2200" b="1">
                <a:solidFill>
                  <a:srgbClr val="0078D4"/>
                </a:solidFill>
                <a:latin typeface="Segoe UI"/>
              </a:rPr>
              <a:t>02</a:t>
            </a:r>
            <a:endParaRPr lang="fr-FR" sz="2200"/>
          </a:p>
        </p:txBody>
      </p:sp>
      <p:sp>
        <p:nvSpPr>
          <p:cNvPr id="55" name="Text"/>
          <p:cNvSpPr txBox="1"/>
          <p:nvPr/>
        </p:nvSpPr>
        <p:spPr>
          <a:xfrm>
            <a:off x="8420100" y="2463800"/>
            <a:ext cx="1079500" cy="215900"/>
          </a:xfrm>
          <a:prstGeom prst="rect">
            <a:avLst/>
          </a:prstGeom>
          <a:noFill/>
          <a:ln>
            <a:noFill/>
          </a:ln>
        </p:spPr>
        <p:txBody>
          <a:bodyPr wrap="square" inset="0" lIns="0" tIns="0" rIns="0" bIns="0"/>
          <a:lstStyle/>
          <a:p>
            <a:pPr algn="l"/>
            <a:r>
              <a:rPr lang="fr-FR" sz="2800" b="1">
                <a:solidFill>
                  <a:srgbClr val="101827"/>
                </a:solidFill>
                <a:latin typeface="Segoe UI"/>
              </a:rPr>
              <a:t>spacy</a:t>
            </a:r>
            <a:endParaRPr lang="fr-FR" sz="2800"/>
          </a:p>
        </p:txBody>
      </p:sp>
      <p:sp>
        <p:nvSpPr>
          <p:cNvPr id="56" name="Text"/>
          <p:cNvSpPr txBox="1"/>
          <p:nvPr/>
        </p:nvSpPr>
        <p:spPr>
          <a:xfrm>
            <a:off x="8420100" y="2762250"/>
            <a:ext cx="2933700" cy="152400"/>
          </a:xfrm>
          <a:prstGeom prst="rect">
            <a:avLst/>
          </a:prstGeom>
          <a:noFill/>
          <a:ln>
            <a:noFill/>
          </a:ln>
        </p:spPr>
        <p:txBody>
          <a:bodyPr wrap="square" inset="0" lIns="0" tIns="0" rIns="0" bIns="0"/>
          <a:lstStyle/>
          <a:p>
            <a:pPr algn="l"/>
            <a:r>
              <a:rPr lang="fr-FR" sz="1800">
                <a:solidFill>
                  <a:srgbClr val="41546B"/>
                </a:solidFill>
                <a:latin typeface="Segoe UI"/>
              </a:rPr>
              <a:t>Detecte : lemmes, formes flechies, racines et synonymes enrichis.</a:t>
            </a:r>
            <a:endParaRPr lang="fr-FR" sz="1800"/>
          </a:p>
        </p:txBody>
      </p:sp>
      <p:sp>
        <p:nvSpPr>
          <p:cNvPr id="57" name="Text"/>
          <p:cNvSpPr txBox="1"/>
          <p:nvPr/>
        </p:nvSpPr>
        <p:spPr>
          <a:xfrm>
            <a:off x="8420100" y="2946400"/>
            <a:ext cx="2933700" cy="152400"/>
          </a:xfrm>
          <a:prstGeom prst="rect">
            <a:avLst/>
          </a:prstGeom>
          <a:noFill/>
          <a:ln>
            <a:noFill/>
          </a:ln>
        </p:spPr>
        <p:txBody>
          <a:bodyPr wrap="square" inset="0" lIns="0" tIns="0" rIns="0" bIns="0"/>
          <a:lstStyle/>
          <a:p>
            <a:pPr algn="l"/>
            <a:r>
              <a:rPr lang="fr-FR" sz="1800">
                <a:solidFill>
                  <a:srgbClr val="41546B"/>
                </a:solidFill>
                <a:latin typeface="Segoe UI"/>
              </a:rPr>
              <a:t>Enrichit : spacy_synonyms.csv depuis les termes metier.</a:t>
            </a:r>
            <a:endParaRPr lang="fr-FR" sz="1800"/>
          </a:p>
        </p:txBody>
      </p:sp>
      <p:sp>
        <p:nvSpPr>
          <p:cNvPr id="58" name="Shape"/>
          <p:cNvSpPr/>
          <p:nvPr/>
        </p:nvSpPr>
        <p:spPr>
          <a:xfrm>
            <a:off x="7607300" y="3683000"/>
            <a:ext cx="4000500" cy="9017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FE6FF"/>
            </a:solidFill>
          </a:ln>
        </p:spPr>
        <p:txBody>
          <a:bodyPr/>
          <a:lstStyle/>
          <a:p/>
        </p:txBody>
      </p:sp>
      <p:sp>
        <p:nvSpPr>
          <p:cNvPr id="59" name="Shape"/>
          <p:cNvSpPr/>
          <p:nvPr/>
        </p:nvSpPr>
        <p:spPr>
          <a:xfrm>
            <a:off x="7772400" y="3879850"/>
            <a:ext cx="482600" cy="482600"/>
          </a:xfrm>
          <a:prstGeom prst="roundRect">
            <a:avLst/>
          </a:prstGeom>
          <a:solidFill>
            <a:srgbClr val="E8F3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0" name="Text"/>
          <p:cNvSpPr txBox="1"/>
          <p:nvPr/>
        </p:nvSpPr>
        <p:spPr>
          <a:xfrm>
            <a:off x="7854950" y="4032250"/>
            <a:ext cx="285750" cy="177800"/>
          </a:xfrm>
          <a:prstGeom prst="rect">
            <a:avLst/>
          </a:prstGeom>
          <a:noFill/>
          <a:ln>
            <a:noFill/>
          </a:ln>
        </p:spPr>
        <p:txBody>
          <a:bodyPr wrap="square" inset="0" lIns="0" tIns="0" rIns="0" bIns="0"/>
          <a:lstStyle/>
          <a:p>
            <a:pPr algn="ctr"/>
            <a:r>
              <a:rPr lang="fr-FR" sz="2200" b="1">
                <a:solidFill>
                  <a:srgbClr val="0078D4"/>
                </a:solidFill>
                <a:latin typeface="Segoe UI"/>
              </a:rPr>
              <a:t>03</a:t>
            </a:r>
            <a:endParaRPr lang="fr-FR" sz="2200"/>
          </a:p>
        </p:txBody>
      </p:sp>
      <p:sp>
        <p:nvSpPr>
          <p:cNvPr id="61" name="Text"/>
          <p:cNvSpPr txBox="1"/>
          <p:nvPr/>
        </p:nvSpPr>
        <p:spPr>
          <a:xfrm>
            <a:off x="8420100" y="3911600"/>
            <a:ext cx="1079500" cy="215900"/>
          </a:xfrm>
          <a:prstGeom prst="rect">
            <a:avLst/>
          </a:prstGeom>
          <a:noFill/>
          <a:ln>
            <a:noFill/>
          </a:ln>
        </p:spPr>
        <p:txBody>
          <a:bodyPr wrap="square" inset="0" lIns="0" tIns="0" rIns="0" bIns="0"/>
          <a:lstStyle/>
          <a:p>
            <a:pPr algn="l"/>
            <a:r>
              <a:rPr lang="fr-FR" sz="2800" b="1">
                <a:solidFill>
                  <a:srgbClr val="101827"/>
                </a:solidFill>
                <a:latin typeface="Segoe UI"/>
              </a:rPr>
              <a:t>gliner</a:t>
            </a:r>
            <a:endParaRPr lang="fr-FR" sz="2800"/>
          </a:p>
        </p:txBody>
      </p:sp>
      <p:sp>
        <p:nvSpPr>
          <p:cNvPr id="62" name="Text"/>
          <p:cNvSpPr txBox="1"/>
          <p:nvPr/>
        </p:nvSpPr>
        <p:spPr>
          <a:xfrm>
            <a:off x="8420100" y="4210050"/>
            <a:ext cx="2933700" cy="152400"/>
          </a:xfrm>
          <a:prstGeom prst="rect">
            <a:avLst/>
          </a:prstGeom>
          <a:noFill/>
          <a:ln>
            <a:noFill/>
          </a:ln>
        </p:spPr>
        <p:txBody>
          <a:bodyPr wrap="square" inset="0" lIns="0" tIns="0" rIns="0" bIns="0"/>
          <a:lstStyle/>
          <a:p>
            <a:pPr algn="l"/>
            <a:r>
              <a:rPr lang="fr-FR" sz="1800">
                <a:solidFill>
                  <a:srgbClr val="41546B"/>
                </a:solidFill>
                <a:latin typeface="Segoe UI"/>
              </a:rPr>
              <a:t>Detecte : entites par labels, meme sans mot cle exact.</a:t>
            </a:r>
            <a:endParaRPr lang="fr-FR" sz="1800"/>
          </a:p>
        </p:txBody>
      </p:sp>
      <p:sp>
        <p:nvSpPr>
          <p:cNvPr id="63" name="Text"/>
          <p:cNvSpPr txBox="1"/>
          <p:nvPr/>
        </p:nvSpPr>
        <p:spPr>
          <a:xfrm>
            <a:off x="8420100" y="4394200"/>
            <a:ext cx="2933700" cy="152400"/>
          </a:xfrm>
          <a:prstGeom prst="rect">
            <a:avLst/>
          </a:prstGeom>
          <a:noFill/>
          <a:ln>
            <a:noFill/>
          </a:ln>
        </p:spPr>
        <p:txBody>
          <a:bodyPr wrap="square" inset="0" lIns="0" tIns="0" rIns="0" bIns="0"/>
          <a:lstStyle/>
          <a:p>
            <a:pPr algn="l"/>
            <a:r>
              <a:rPr lang="fr-FR" sz="1800">
                <a:solidFill>
                  <a:srgbClr val="41546B"/>
                </a:solidFill>
                <a:latin typeface="Segoe UI"/>
              </a:rPr>
              <a:t>Couvre : signaux sensibles et notions de conformite/conseil.</a:t>
            </a:r>
            <a:endParaRPr lang="fr-FR" sz="1800"/>
          </a:p>
        </p:txBody>
      </p:sp>
      <p:sp>
        <p:nvSpPr>
          <p:cNvPr id="64" name="Shape"/>
          <p:cNvSpPr/>
          <p:nvPr/>
        </p:nvSpPr>
        <p:spPr>
          <a:xfrm>
            <a:off x="7607300" y="4813300"/>
            <a:ext cx="4000500" cy="9017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FE6FF"/>
            </a:solidFill>
          </a:ln>
        </p:spPr>
        <p:txBody>
          <a:bodyPr/>
          <a:lstStyle/>
          <a:p/>
        </p:txBody>
      </p:sp>
      <p:sp>
        <p:nvSpPr>
          <p:cNvPr id="65" name="Shape"/>
          <p:cNvSpPr/>
          <p:nvPr/>
        </p:nvSpPr>
        <p:spPr>
          <a:xfrm>
            <a:off x="7772400" y="5010150"/>
            <a:ext cx="482600" cy="482600"/>
          </a:xfrm>
          <a:prstGeom prst="roundRect">
            <a:avLst/>
          </a:prstGeom>
          <a:solidFill>
            <a:srgbClr val="E8F3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6" name="Text"/>
          <p:cNvSpPr txBox="1"/>
          <p:nvPr/>
        </p:nvSpPr>
        <p:spPr>
          <a:xfrm>
            <a:off x="7854950" y="5162550"/>
            <a:ext cx="285750" cy="177800"/>
          </a:xfrm>
          <a:prstGeom prst="rect">
            <a:avLst/>
          </a:prstGeom>
          <a:noFill/>
          <a:ln>
            <a:noFill/>
          </a:ln>
        </p:spPr>
        <p:txBody>
          <a:bodyPr wrap="square" inset="0" lIns="0" tIns="0" rIns="0" bIns="0"/>
          <a:lstStyle/>
          <a:p>
            <a:pPr algn="ctr"/>
            <a:r>
              <a:rPr lang="fr-FR" sz="2200" b="1">
                <a:solidFill>
                  <a:srgbClr val="0078D4"/>
                </a:solidFill>
                <a:latin typeface="Segoe UI"/>
              </a:rPr>
              <a:t>04</a:t>
            </a:r>
            <a:endParaRPr lang="fr-FR" sz="2200"/>
          </a:p>
        </p:txBody>
      </p:sp>
      <p:sp>
        <p:nvSpPr>
          <p:cNvPr id="67" name="Text"/>
          <p:cNvSpPr txBox="1"/>
          <p:nvPr/>
        </p:nvSpPr>
        <p:spPr>
          <a:xfrm>
            <a:off x="8420100" y="5041900"/>
            <a:ext cx="1079500" cy="215900"/>
          </a:xfrm>
          <a:prstGeom prst="rect">
            <a:avLst/>
          </a:prstGeom>
          <a:noFill/>
          <a:ln>
            <a:noFill/>
          </a:ln>
        </p:spPr>
        <p:txBody>
          <a:bodyPr wrap="square" inset="0" lIns="0" tIns="0" rIns="0" bIns="0"/>
          <a:lstStyle/>
          <a:p>
            <a:pPr algn="l"/>
            <a:r>
              <a:rPr lang="fr-FR" sz="2800" b="1">
                <a:solidFill>
                  <a:srgbClr val="101827"/>
                </a:solidFill>
                <a:latin typeface="Segoe UI"/>
              </a:rPr>
              <a:t>regex</a:t>
            </a:r>
            <a:endParaRPr lang="fr-FR" sz="2800"/>
          </a:p>
        </p:txBody>
      </p:sp>
      <p:sp>
        <p:nvSpPr>
          <p:cNvPr id="68" name="Text"/>
          <p:cNvSpPr txBox="1"/>
          <p:nvPr/>
        </p:nvSpPr>
        <p:spPr>
          <a:xfrm>
            <a:off x="8420100" y="5340350"/>
            <a:ext cx="2933700" cy="152400"/>
          </a:xfrm>
          <a:prstGeom prst="rect">
            <a:avLst/>
          </a:prstGeom>
          <a:noFill/>
          <a:ln>
            <a:noFill/>
          </a:ln>
        </p:spPr>
        <p:txBody>
          <a:bodyPr wrap="square" inset="0" lIns="0" tIns="0" rIns="0" bIns="0"/>
          <a:lstStyle/>
          <a:p>
            <a:pPr algn="l"/>
            <a:r>
              <a:rPr lang="fr-FR" sz="1800">
                <a:solidFill>
                  <a:srgbClr val="41546B"/>
                </a:solidFill>
                <a:latin typeface="Segoe UI"/>
              </a:rPr>
              <a:t>Detecte : formats structures via motifs deterministes.</a:t>
            </a:r>
            <a:endParaRPr lang="fr-FR" sz="1800"/>
          </a:p>
        </p:txBody>
      </p:sp>
      <p:sp>
        <p:nvSpPr>
          <p:cNvPr id="69" name="Text"/>
          <p:cNvSpPr txBox="1"/>
          <p:nvPr/>
        </p:nvSpPr>
        <p:spPr>
          <a:xfrm>
            <a:off x="8420100" y="5524500"/>
            <a:ext cx="2933700" cy="152400"/>
          </a:xfrm>
          <a:prstGeom prst="rect">
            <a:avLst/>
          </a:prstGeom>
          <a:noFill/>
          <a:ln>
            <a:noFill/>
          </a:ln>
        </p:spPr>
        <p:txBody>
          <a:bodyPr wrap="square" inset="0" lIns="0" tIns="0" rIns="0" bIns="0"/>
          <a:lstStyle/>
          <a:p>
            <a:pPr algn="l"/>
            <a:r>
              <a:rPr lang="fr-FR" sz="1800">
                <a:solidFill>
                  <a:srgbClr val="41546B"/>
                </a:solidFill>
                <a:latin typeface="Segoe UI"/>
              </a:rPr>
              <a:t>Couvre : email, telephone FR, IBAN FR et NIR francais.</a:t>
            </a:r>
            <a:endParaRPr lang="fr-FR" sz="1800"/>
          </a:p>
        </p:txBody>
      </p:sp>
      <p:sp>
        <p:nvSpPr>
          <p:cNvPr id="70" name="Shape"/>
          <p:cNvSpPr/>
          <p:nvPr/>
        </p:nvSpPr>
        <p:spPr>
          <a:xfrm>
            <a:off x="546100" y="6134100"/>
            <a:ext cx="11061700" cy="3429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E9FB"/>
            </a:solidFill>
          </a:ln>
        </p:spPr>
        <p:txBody>
          <a:bodyPr/>
          <a:lstStyle/>
          <a:p/>
        </p:txBody>
      </p:sp>
      <p:sp>
        <p:nvSpPr>
          <p:cNvPr id="71" name="Text"/>
          <p:cNvSpPr txBox="1"/>
          <p:nvPr/>
        </p:nvSpPr>
        <p:spPr>
          <a:xfrm>
            <a:off x="774700" y="6248400"/>
            <a:ext cx="10414000" cy="152400"/>
          </a:xfrm>
          <a:prstGeom prst="rect">
            <a:avLst/>
          </a:prstGeom>
          <a:noFill/>
          <a:ln>
            <a:noFill/>
          </a:ln>
        </p:spPr>
        <p:txBody>
          <a:bodyPr wrap="square" inset="0" lIns="0" tIns="0" rIns="0" bIns="0"/>
          <a:lstStyle/>
          <a:p>
            <a:pPr algn="l"/>
            <a:r>
              <a:rPr lang="fr-FR" sz="1800">
                <a:solidFill>
                  <a:srgbClr val="41546B"/>
                </a:solidFill>
                <a:latin typeface="Segoe UI"/>
              </a:rPr>
              <a:t>Sorties notebook : case_summary, alerts, whitelist_ignored, comparison, count_pivot, score_view et branch_errors en CSV.</a:t>
            </a:r>
            <a:endParaRPr lang="fr-FR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ndows clean">
  <a:themeElements>
    <a:clrScheme name="Office">
      <a:dk1>
        <a:srgbClr val="000000"/>
      </a:dk1>
      <a:lt1>
        <a:srgbClr val="FFFFFF"/>
      </a:lt1>
      <a:dk2>
        <a:srgbClr val="1F2937"/>
      </a:dk2>
      <a:lt2>
        <a:srgbClr val="F7FBFF"/>
      </a:lt2>
      <a:accent1>
        <a:srgbClr val="0078D4"/>
      </a:accent1>
      <a:accent2>
        <a:srgbClr val="8764B8"/>
      </a:accent2>
      <a:accent3>
        <a:srgbClr val="107C10"/>
      </a:accent3>
      <a:accent4>
        <a:srgbClr val="00A2ED"/>
      </a:accent4>
      <a:accent5>
        <a:srgbClr val="5C2D91"/>
      </a:accent5>
      <a:accent6>
        <a:srgbClr val="2B88D8"/>
      </a:accent6>
      <a:hlink>
        <a:srgbClr val="0078D4"/>
      </a:hlink>
      <a:folHlink>
        <a:srgbClr val="5C2D91"/>
      </a:folHlink>
    </a:clrScheme>
    <a:fontScheme name="Segoe">
      <a:majorFont>
        <a:latin typeface="Segoe UI"/>
      </a:majorFont>
      <a:minorFont>
        <a:latin typeface="Segoe UI"/>
      </a:minorFont>
    </a:fontScheme>
    <a:fmtScheme name="Clean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Visuel branches NLP</dc:title>
  <dc:creator>Codex</dc:creator>
</cp:coreProperties>
</file>